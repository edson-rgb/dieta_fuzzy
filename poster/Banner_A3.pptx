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32404050" cy="43205400"/>
  <p:notesSz cx="6858000" cy="9144000"/>
  <p:defaultTextStyle>
    <a:defPPr>
      <a:defRPr lang="pt-BR"/>
    </a:defPPr>
    <a:lvl1pPr marL="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1pPr>
    <a:lvl2pPr marL="216027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2pPr>
    <a:lvl3pPr marL="432054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3pPr>
    <a:lvl4pPr marL="648081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4pPr>
    <a:lvl5pPr marL="864108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5pPr>
    <a:lvl6pPr marL="1080135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6pPr>
    <a:lvl7pPr marL="1296162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7pPr>
    <a:lvl8pPr marL="1512189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8pPr>
    <a:lvl9pPr marL="1728216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DFA0B4-13E0-F08D-1B1D-291B902E44C2}" v="268" dt="2025-09-26T00:55:24.5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759" autoAdjust="0"/>
    <p:restoredTop sz="95287" autoAdjust="0"/>
  </p:normalViewPr>
  <p:slideViewPr>
    <p:cSldViewPr>
      <p:cViewPr varScale="1">
        <p:scale>
          <a:sx n="24" d="100"/>
          <a:sy n="24" d="100"/>
        </p:scale>
        <p:origin x="4288" y="288"/>
      </p:cViewPr>
      <p:guideLst>
        <p:guide orient="horz" pos="13608"/>
        <p:guide pos="10206"/>
      </p:guideLst>
    </p:cSldViewPr>
  </p:slideViewPr>
  <p:outlineViewPr>
    <p:cViewPr>
      <p:scale>
        <a:sx n="33" d="100"/>
        <a:sy n="33" d="100"/>
      </p:scale>
      <p:origin x="0" y="115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80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41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D9-6F99-4774-8F18-D88D64460132}" type="datetimeFigureOut">
              <a:rPr lang="pt-BR" smtClean="0"/>
              <a:pPr/>
              <a:t>21/11/2025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 vert="horz" lIns="432054" tIns="216027" rIns="432054" bIns="216027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horz" lIns="432054" tIns="216027" rIns="432054" bIns="216027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6202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088D9-6F99-4774-8F18-D88D64460132}" type="datetimeFigureOut">
              <a:rPr lang="pt-BR" smtClean="0"/>
              <a:pPr/>
              <a:t>21/11/2025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1071384" y="40045008"/>
            <a:ext cx="10261283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232229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320540" rtl="0" eaLnBrk="1" latinLnBrk="0" hangingPunct="1">
        <a:spcBef>
          <a:spcPct val="0"/>
        </a:spcBef>
        <a:buNone/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203" indent="-1620203" algn="l" defTabSz="4320540" rtl="0" eaLnBrk="1" latinLnBrk="0" hangingPunct="1">
        <a:spcBef>
          <a:spcPct val="20000"/>
        </a:spcBef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10439" indent="-1350169" algn="l" defTabSz="4320540" rtl="0" eaLnBrk="1" latinLnBrk="0" hangingPunct="1">
        <a:spcBef>
          <a:spcPct val="20000"/>
        </a:spcBef>
        <a:buFont typeface="Arial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945" indent="-1080135" algn="l" defTabSz="4320540" rtl="0" eaLnBrk="1" latinLnBrk="0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1215" indent="-1080135" algn="l" defTabSz="4320540" rtl="0" eaLnBrk="1" latinLnBrk="0" hangingPunct="1">
        <a:spcBef>
          <a:spcPct val="20000"/>
        </a:spcBef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-288332"/>
            <a:ext cx="32412863" cy="43493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61806" y="4176148"/>
            <a:ext cx="30749932" cy="5790796"/>
          </a:xfrm>
        </p:spPr>
        <p:txBody>
          <a:bodyPr>
            <a:normAutofit/>
          </a:bodyPr>
          <a:lstStyle/>
          <a:p>
            <a:pPr hangingPunct="0"/>
            <a:r>
              <a:rPr lang="pt-BR" sz="5400" b="1" dirty="0"/>
              <a:t>TITULO DO TRABALHO</a:t>
            </a:r>
            <a:br>
              <a:rPr lang="pt-BR" sz="5400" b="1" dirty="0"/>
            </a:br>
            <a:br>
              <a:rPr lang="pt-BR" sz="5400" dirty="0"/>
            </a:br>
            <a:r>
              <a:rPr lang="pt-BR" sz="4400" b="1" dirty="0"/>
              <a:t>Edson Costa; Anderson Barreto; Felipe Hora; Gabriel Oliveira; Jorge Dantas; Adailton Cerqueira.</a:t>
            </a:r>
            <a:br>
              <a:rPr lang="pt-BR" sz="4400" b="1" dirty="0"/>
            </a:br>
            <a:br>
              <a:rPr lang="pt-BR" sz="4400" b="1" dirty="0"/>
            </a:br>
            <a:r>
              <a:rPr lang="pt-BR" sz="4400" dirty="0"/>
              <a:t>Universidade Salvador – Salvador – BA – Brasil</a:t>
            </a:r>
            <a:br>
              <a:rPr lang="pt-BR" sz="9600" dirty="0"/>
            </a:br>
            <a:endParaRPr lang="pt-BR" sz="4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96254" y="10729492"/>
            <a:ext cx="14785564" cy="27795088"/>
          </a:xfr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INTRODUÇÃO</a:t>
            </a:r>
            <a:endParaRPr lang="pt-BR" sz="7500" b="1" dirty="0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presente aplicação web foi desenvolvida com o objetivo de recomendar dietas personalizadas de forma prática, acessível e alinhada às necessidades individuais de cada usuário.</a:t>
            </a:r>
          </a:p>
          <a:p>
            <a:pPr algn="l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sistema utiliza informações básicas fornecidas pelo usuário para calcular indicadores essenciais, como o Índice de Massa Corporal (IMC) e a Taxa Metabólica Basal (TMB), que servem de base para definir tanto o tipo de dieta adequado (hipocalórica, balanceada ou hipercalórica) quanto a meta calórica diária necessária para cada </a:t>
            </a:r>
            <a:r>
              <a:rPr lang="pt-BR"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perfil.</a:t>
            </a:r>
          </a:p>
          <a:p>
            <a:pPr algn="l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Além disso, o projeto busca demonstrar, na prática, como diferentes técnicas de Inteligência Artificial podem atuar em conjunto para apoiar decisões nutricionais.</a:t>
            </a:r>
          </a:p>
          <a:p>
            <a:pPr algn="l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Após determinar o tipo de dieta, a aplicação seleciona um cardápio correspondente em seu banco de dados estruturado e realiza um ajuste proporcional das quantidades e calorias, garantindo recomendações coerentes, equilibradas e adaptadas a cada pessoa.</a:t>
            </a:r>
          </a:p>
          <a:p>
            <a:pPr algn="l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MÉTODOS</a:t>
            </a:r>
            <a:endParaRPr lang="pt-BR" sz="7500" b="1" dirty="0">
              <a:solidFill>
                <a:schemeClr val="tx1"/>
              </a:solidFill>
            </a:endParaRPr>
          </a:p>
          <a:p>
            <a:pPr algn="l"/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lidar com informações subjetivas, como o nível de atividade física e escala de esforço percebido (RPE), o projeto utiliza lógica </a:t>
            </a:r>
            <a:r>
              <a:rPr lang="pt-BR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fuzzy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uma técnica capaz de trabalhar com valores intermediários entre “baixo” e “alto”. Diferente de classificações rígidas, o </a:t>
            </a:r>
            <a:r>
              <a:rPr lang="pt-BR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fuzzy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interpreta graduações e produz um valor contínuo de intensidade, gerando uma representação mais fiel do comportamento real do usuário.</a:t>
            </a:r>
          </a:p>
          <a:p>
            <a:pPr algn="l"/>
            <a:endParaRPr lang="pt-BR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Após esse processamento, o sistema utiliza um sistema especialista, composto por regras nutricionais que relacionam categorias de IMC e intensidade ao tipo de dieta recomendado. Esse conjunto de regras funciona como o conhecimento estruturado de um profissional, permitindo que o sistema tome decisões claras, explicáveis e consistentes a partir das informações tratadas.</a:t>
            </a:r>
          </a:p>
          <a:p>
            <a:pPr algn="l"/>
            <a:endParaRPr lang="pt-BR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fim, para garantir estabilidade mesmo quando a saída </a:t>
            </a:r>
            <a:r>
              <a:rPr lang="pt-BR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fuzzy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fica próxima dos limites entre categorias, o projeto incorpora um mecanismo de busca em largura (BFS). A BFS navega pelo grafo das combinações possíveis e identifica automaticamente a opção mais próxima e coerente quando a combinação exata não está disponível. Esse processo evita falhas e assegura que o sistema sempre retorne uma recomendação válida, mantendo a suavidade e a lógica da decisão (Figura1).</a:t>
            </a:r>
            <a:endParaRPr lang="pt-BR" sz="28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2800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RESULTADOS</a:t>
            </a:r>
            <a:endParaRPr lang="pt-BR" sz="7500" b="1" dirty="0">
              <a:solidFill>
                <a:schemeClr val="tx1"/>
              </a:solidFill>
            </a:endParaRPr>
          </a:p>
          <a:p>
            <a:pPr algn="l"/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sistema apresentou respostas coerentes para diferentes perfis de usuário e manteve estabilidade mesmo com variações os dados de entrada. O </a:t>
            </a:r>
            <a:r>
              <a:rPr lang="pt-BR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fuzzy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evitou mudanças bruscas no tipo de dieta quando o esforço informado variava entre níveis próximos, o que tornou as recomendações mais suaves e realistas. O mecanismo de regras mostrou-se eficiente em classificar corretamente os perfis nutricionais.</a:t>
            </a:r>
          </a:p>
        </p:txBody>
      </p:sp>
      <p:sp>
        <p:nvSpPr>
          <p:cNvPr id="15" name="Subtítulo 2"/>
          <p:cNvSpPr txBox="1">
            <a:spLocks/>
          </p:cNvSpPr>
          <p:nvPr/>
        </p:nvSpPr>
        <p:spPr>
          <a:xfrm>
            <a:off x="16035133" y="10729492"/>
            <a:ext cx="15576604" cy="28218508"/>
          </a:xfrm>
          <a:prstGeom prst="rect">
            <a:avLst/>
          </a:prstGeom>
          <a:noFill/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r>
              <a:rPr lang="pt-BR" sz="4400" b="1" dirty="0"/>
              <a:t>Resultados dos testes realizados</a:t>
            </a:r>
            <a:endParaRPr lang="pt-BR" sz="4400" b="1" dirty="0">
              <a:ea typeface="Calibri"/>
              <a:cs typeface="Calibri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Em todos os testes, o sistema ajustou corretamente as calorias totais e as quantidades dos alimentos com base na meta calórica diária calculada, demonstrando funcionamento estável, ausência de falhas e boa adaptação às diferenças individuais.</a:t>
            </a:r>
          </a:p>
          <a:p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4400" b="1" dirty="0"/>
              <a:t>Figura 1 – Exemplo figura</a:t>
            </a:r>
            <a:endParaRPr lang="pt-BR" sz="4400" b="1" dirty="0">
              <a:ea typeface="Calibri"/>
              <a:cs typeface="Calibri"/>
            </a:endParaRPr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>
              <a:spcBef>
                <a:spcPts val="0"/>
              </a:spcBef>
            </a:pPr>
            <a:endParaRPr lang="pt-BR" sz="9600" b="1" dirty="0"/>
          </a:p>
          <a:p>
            <a:pPr algn="just"/>
            <a:endParaRPr lang="pt-BR" sz="9600" b="1" dirty="0"/>
          </a:p>
          <a:p>
            <a:pPr algn="just"/>
            <a:endParaRPr lang="pt-BR" sz="3200" b="1" dirty="0"/>
          </a:p>
          <a:p>
            <a:pPr algn="just">
              <a:spcBef>
                <a:spcPts val="0"/>
              </a:spcBef>
            </a:pPr>
            <a:r>
              <a:rPr lang="pt-BR" sz="6600" b="1" dirty="0"/>
              <a:t>CONCLUSÃO</a:t>
            </a:r>
            <a:endParaRPr lang="pt-BR" sz="9600" b="1" dirty="0"/>
          </a:p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O desenvolvimento deste sistema permitiu demonstrar como diferentes técnicas de Inteligência Artificial podem ser integradas para resolver um problema real de forma organizada e acessível. Mais do que simplesmente gerar um cardápio, o projeto mostrou que é possível transformar dados simples fornecidos pelo usuário em recomendações estruturadas, combinando precisão, adaptabilidade e coerência lógica. </a:t>
            </a:r>
          </a:p>
          <a:p>
            <a:pPr algn="just"/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Além de cumprir seu objetivo principal, a aplicação evidenciou o potencial das técnicas utilizadas para serem ampliadas em outras áreas da saúde e bem-estar. Assim, o projeto não apenas cumpriu sua função prática, mas também serviu como uma experiência sólida de integração de conceitos de IA, abrindo caminho para aprimoramentos futuros e aplicações mais completas.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5720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7" name="Subtítulo 2"/>
          <p:cNvSpPr txBox="1">
            <a:spLocks/>
          </p:cNvSpPr>
          <p:nvPr/>
        </p:nvSpPr>
        <p:spPr>
          <a:xfrm>
            <a:off x="861805" y="38524580"/>
            <a:ext cx="30749932" cy="4123395"/>
          </a:xfrm>
          <a:prstGeom prst="rect">
            <a:avLst/>
          </a:prstGeo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>
            <a:lvl1pPr marL="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5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6027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2054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48081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64108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80135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6162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12189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28216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REFERÊNCIAS BIBLIOGRÁFICAS</a:t>
            </a:r>
          </a:p>
          <a:p>
            <a:pPr algn="just">
              <a:spcBef>
                <a:spcPts val="0"/>
              </a:spcBef>
            </a:pPr>
            <a:endParaRPr lang="pt-BR" sz="28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https://</a:t>
            </a:r>
            <a:r>
              <a:rPr lang="pt-BR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www.cos.ufrj.br</a:t>
            </a:r>
            <a:r>
              <a:rPr lang="pt-BR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/~</a:t>
            </a:r>
            <a:r>
              <a:rPr lang="pt-BR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mario</a:t>
            </a:r>
            <a:r>
              <a:rPr lang="pt-BR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/logica/</a:t>
            </a:r>
            <a:r>
              <a:rPr lang="pt-BR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logicaFuzzy.pdf</a:t>
            </a:r>
            <a:endParaRPr lang="pt-BR" sz="32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https://</a:t>
            </a:r>
            <a:r>
              <a:rPr lang="pt-BR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professor.luzerna.ifc.edu.br</a:t>
            </a:r>
            <a:r>
              <a:rPr lang="pt-BR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ricardo-kerschbaumer</a:t>
            </a:r>
            <a:r>
              <a:rPr lang="pt-BR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wp-content</a:t>
            </a:r>
            <a:r>
              <a:rPr lang="pt-BR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/uploads/sites/43/2018/02/3-Sistemas-Especialistas.pdf</a:t>
            </a:r>
          </a:p>
          <a:p>
            <a:pPr algn="just">
              <a:spcBef>
                <a:spcPts val="0"/>
              </a:spcBef>
            </a:pPr>
            <a:endParaRPr lang="pt-BR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https://</a:t>
            </a:r>
            <a:r>
              <a:rPr lang="pt-BR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www.ime.usp.br</a:t>
            </a:r>
            <a:r>
              <a:rPr lang="pt-BR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/~</a:t>
            </a:r>
            <a:r>
              <a:rPr lang="pt-BR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</a:t>
            </a:r>
            <a:r>
              <a:rPr lang="pt-BR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algoritmos_para_grafos</a:t>
            </a:r>
            <a:r>
              <a:rPr lang="pt-BR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/aulas/</a:t>
            </a:r>
            <a:r>
              <a:rPr lang="pt-BR" sz="3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bfs.html</a:t>
            </a:r>
            <a:endParaRPr lang="pt-BR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3200" b="1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DE0425B4-4BBE-4119-F4E3-54908A697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1884" y="692779"/>
            <a:ext cx="7724775" cy="35530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6012876-1C84-8DE5-9B13-5905E424B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34" y="1299271"/>
            <a:ext cx="10612836" cy="2368923"/>
          </a:xfrm>
          <a:prstGeom prst="rect">
            <a:avLst/>
          </a:prstGeom>
        </p:spPr>
      </p:pic>
      <p:pic>
        <p:nvPicPr>
          <p:cNvPr id="6" name="Imagem 5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FC706728-8FFD-23B9-2745-D9050D7D3A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9977" y="23114868"/>
            <a:ext cx="15155162" cy="7951996"/>
          </a:xfrm>
          <a:prstGeom prst="rect">
            <a:avLst/>
          </a:prstGeom>
        </p:spPr>
      </p:pic>
      <p:pic>
        <p:nvPicPr>
          <p:cNvPr id="14" name="Imagem 13" descr="Código QR&#10;&#10;O conteúdo gerado por IA pode estar incorreto.">
            <a:extLst>
              <a:ext uri="{FF2B5EF4-FFF2-40B4-BE49-F238E27FC236}">
                <a16:creationId xmlns:a16="http://schemas.microsoft.com/office/drawing/2014/main" id="{000DC022-6B58-4477-28C0-AC59E6D244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8821" y="38948000"/>
            <a:ext cx="3602916" cy="4257400"/>
          </a:xfrm>
          <a:prstGeom prst="rect">
            <a:avLst/>
          </a:prstGeom>
        </p:spPr>
      </p:pic>
      <p:pic>
        <p:nvPicPr>
          <p:cNvPr id="10" name="Imagem 9" descr="Tabela&#10;&#10;O conteúdo gerado por IA pode estar incorreto.">
            <a:extLst>
              <a:ext uri="{FF2B5EF4-FFF2-40B4-BE49-F238E27FC236}">
                <a16:creationId xmlns:a16="http://schemas.microsoft.com/office/drawing/2014/main" id="{93DC9E5C-B9EA-5FC0-28AA-C6CF89B06E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8498" y="11703523"/>
            <a:ext cx="15096641" cy="79519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</TotalTime>
  <Words>699</Words>
  <Application>Microsoft Macintosh PowerPoint</Application>
  <PresentationFormat>Personalizar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TITULO DO TRABALHO  Edson Costa; Anderson Barreto; Felipe Hora; Gabriel Oliveira; Jorge Dantas; Adailton Cerqueira.  Universidade Salvador – Salvador – BA – Brasil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on the Beach 2011</dc:title>
  <dc:creator>Tristao</dc:creator>
  <cp:lastModifiedBy>Edson Costa Monteiro Neto</cp:lastModifiedBy>
  <cp:revision>165</cp:revision>
  <dcterms:created xsi:type="dcterms:W3CDTF">2011-04-07T11:05:01Z</dcterms:created>
  <dcterms:modified xsi:type="dcterms:W3CDTF">2025-11-21T23:55:47Z</dcterms:modified>
</cp:coreProperties>
</file>